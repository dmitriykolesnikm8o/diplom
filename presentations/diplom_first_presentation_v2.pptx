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7" r:id="rId3"/>
    <p:sldId id="265" r:id="rId4"/>
    <p:sldId id="258" r:id="rId5"/>
    <p:sldId id="259" r:id="rId6"/>
    <p:sldId id="261" r:id="rId7"/>
    <p:sldId id="260" r:id="rId8"/>
    <p:sldId id="262" r:id="rId9"/>
    <p:sldId id="267" r:id="rId10"/>
  </p:sldIdLst>
  <p:sldSz cx="12192000" cy="6858000"/>
  <p:notesSz cx="6858000" cy="12192000"/>
  <p:embeddedFontLst>
    <p:embeddedFont>
      <p:font typeface="Tinos" panose="020B0604020202020204" charset="0"/>
      <p:regular r:id="rId12"/>
    </p:embeddedFont>
    <p:embeddedFont>
      <p:font typeface="Tinos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262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Представиться, назвать тему и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5000" y="412750"/>
            <a:ext cx="99060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35000" y="1447800"/>
            <a:ext cx="10744200" cy="459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EA34AF-7C84-A325-170D-90745BEBE6CE}"/>
              </a:ext>
            </a:extLst>
          </p:cNvPr>
          <p:cNvSpPr>
            <a:spLocks noGrp="1"/>
          </p:cNvSpPr>
          <p:nvPr>
            <p:ph type="dt" sz="half" idx="10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E8DB27-BC0A-0726-2B3D-E2D3AE831F3F}"/>
              </a:ext>
            </a:extLst>
          </p:cNvPr>
          <p:cNvSpPr>
            <a:spLocks noGrp="1"/>
          </p:cNvSpPr>
          <p:nvPr>
            <p:ph type="ftr" sz="quarter" idx="10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E20572-04FE-1C1D-1E8E-0ACFF2C7D29C}"/>
              </a:ext>
            </a:extLst>
          </p:cNvPr>
          <p:cNvSpPr>
            <a:spLocks noGrp="1"/>
          </p:cNvSpPr>
          <p:nvPr>
            <p:ph type="sldNum" sz="quarter" idx="104"/>
          </p:nvPr>
        </p:nvSpPr>
        <p:spPr>
          <a:xfrm>
            <a:off x="8636000" y="6348845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95C845D6-605B-4777-8BB9-330A6C00482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024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9254FA15-DB89-2621-9F58-1151E449D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8867741-6392-8661-B43A-7D1F6624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71EC0B-6EA3-77CA-BA26-437F8A9E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68019F-3604-B018-1FDF-7BFC8ED9B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4FDEFA-42A1-B4E1-FEE7-0E84EC939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48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95C845D6-605B-4777-8BB9-330A6C00482E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МАИ"/>
          <p:cNvPicPr>
            <a:picLocks noChangeAspect="1"/>
          </p:cNvPicPr>
          <p:nvPr/>
        </p:nvPicPr>
        <p:blipFill>
          <a:blip r:embed="rId3"/>
          <a:srcRect t="-271" b="-271"/>
          <a:stretch/>
        </p:blipFill>
        <p:spPr>
          <a:xfrm>
            <a:off x="235394" y="434314"/>
            <a:ext cx="1231900" cy="1193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1361" y="2413000"/>
            <a:ext cx="11236579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6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Выпускная квалификационная работа бакалавра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71361" y="2844800"/>
            <a:ext cx="11236579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на тему: «</a:t>
            </a:r>
            <a:r>
              <a:rPr lang="ru-RU" sz="2200" b="1" dirty="0"/>
              <a:t>Разработка открытого инструмента статического анализа PE файлов для выявления намеренных искажений структуры и заголовков</a:t>
            </a:r>
            <a:r>
              <a:rPr lang="en-US" sz="22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»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06389" y="4381500"/>
            <a:ext cx="5637911" cy="65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470"/>
              </a:lnSpc>
              <a:buNone/>
            </a:pPr>
            <a:r>
              <a:rPr lang="ru-RU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Руководитель ВКР</a:t>
            </a:r>
            <a:r>
              <a:rPr lang="en-US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:</a:t>
            </a:r>
            <a:endParaRPr lang="ru-RU" sz="1900" b="1" dirty="0">
              <a:solidFill>
                <a:srgbClr val="1A1A1A"/>
              </a:solidFill>
              <a:latin typeface="Times New Roman" pitchFamily="18" charset="0"/>
              <a:ea typeface="Times New Roman" pitchFamily="18" charset="-122"/>
              <a:cs typeface="Times New Roman" pitchFamily="18" charset="-120"/>
            </a:endParaRPr>
          </a:p>
          <a:p>
            <a:pPr marL="0" indent="0" algn="r">
              <a:lnSpc>
                <a:spcPts val="2470"/>
              </a:lnSpc>
              <a:buNone/>
            </a:pPr>
            <a:r>
              <a:rPr lang="ru-RU" sz="1900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Маркин Алексей Леонидович</a:t>
            </a:r>
            <a:r>
              <a:rPr lang="ru-RU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5906389" y="5143500"/>
            <a:ext cx="5637911" cy="65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470"/>
              </a:lnSpc>
              <a:buNone/>
            </a:pPr>
            <a:r>
              <a:rPr lang="en-US" sz="1900" b="1" dirty="0" err="1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Студент</a:t>
            </a:r>
            <a:r>
              <a:rPr lang="en-US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</a:t>
            </a:r>
            <a:r>
              <a:rPr lang="en-US" sz="1900" b="1" dirty="0" err="1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группы</a:t>
            </a:r>
            <a:r>
              <a:rPr lang="en-US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 М8О-4</a:t>
            </a:r>
            <a:r>
              <a:rPr lang="ru-RU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13Б-23</a:t>
            </a:r>
            <a:r>
              <a:rPr lang="en-US" sz="19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:</a:t>
            </a:r>
            <a:endParaRPr lang="ru-RU" sz="1900" b="1" dirty="0">
              <a:solidFill>
                <a:srgbClr val="1A1A1A"/>
              </a:solidFill>
              <a:latin typeface="Times New Roman" pitchFamily="18" charset="0"/>
              <a:ea typeface="Times New Roman" pitchFamily="18" charset="-122"/>
              <a:cs typeface="Times New Roman" pitchFamily="18" charset="-120"/>
            </a:endParaRPr>
          </a:p>
          <a:p>
            <a:pPr marL="0" indent="0" algn="r">
              <a:lnSpc>
                <a:spcPts val="2470"/>
              </a:lnSpc>
              <a:buNone/>
            </a:pPr>
            <a:r>
              <a:rPr lang="ru-RU" sz="1900" dirty="0">
                <a:solidFill>
                  <a:srgbClr val="1A1A1A"/>
                </a:solidFill>
                <a:latin typeface="Times New Roman" pitchFamily="18" charset="0"/>
                <a:cs typeface="Times New Roman" pitchFamily="18" charset="-120"/>
              </a:rPr>
              <a:t>Колесник Дмитрий Сергеевич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71361" y="6172200"/>
            <a:ext cx="11236579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6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Москва 2026</a:t>
            </a:r>
            <a:endParaRPr lang="en-US" sz="1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C226A-7333-49AC-B065-976564D2C75C}"/>
              </a:ext>
            </a:extLst>
          </p:cNvPr>
          <p:cNvSpPr txBox="1"/>
          <p:nvPr/>
        </p:nvSpPr>
        <p:spPr>
          <a:xfrm>
            <a:off x="1467294" y="368300"/>
            <a:ext cx="10334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ВЫСШЕГО ОБРАЗОВАНИЯ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АВИАЦИОННЫЙ ИНСТИТУТ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900" b="1" kern="100" spc="-23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Актуальность темы и исследовательская база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1362221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Сбои анализаторов на нестандартных файлах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8371" y="1786842"/>
            <a:ext cx="10413739" cy="842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методологии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LangSec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подтверждают: различие в интерпретации деформированных бинарных заголовков между строгими анализаторами и загрузчиком ОС порождает критические уязвимости обхода защиты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Sean W. Smith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Sameed Ali: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Survey of Parser Differential Anti-Patterns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585" y="2688502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атак и сокрытия полезной нагрузки: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8371" y="3114191"/>
            <a:ext cx="10413739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Манипуляции со структурами PE (фальсификация Rich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аномалии прав секций W+X, оверлеи) активно применяются для маскировки кода и вывода из строя статических сканеров без запуска в песочнице.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Mitre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ATTACK: “Obfuscated Files or Information”)</a:t>
            </a:r>
          </a:p>
        </p:txBody>
      </p:sp>
      <p:sp>
        <p:nvSpPr>
          <p:cNvPr id="10" name="Text 8"/>
          <p:cNvSpPr/>
          <p:nvPr/>
        </p:nvSpPr>
        <p:spPr>
          <a:xfrm>
            <a:off x="609584" y="4046456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Последствия: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D094AB25-9192-F4E3-F9F1-2FE855B9EC87}"/>
              </a:ext>
            </a:extLst>
          </p:cNvPr>
          <p:cNvSpPr/>
          <p:nvPr/>
        </p:nvSpPr>
        <p:spPr>
          <a:xfrm>
            <a:off x="1168372" y="4571156"/>
            <a:ext cx="10413739" cy="1472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Вредоносный файл с измененной структурой может пройти «мимо» системы проверки, но успешно запуститься на компьютере жертвы;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 придется либо разбирать вручную, либо в большом количестве отправлять в «песочницу» или дизассемблер, что может быть долгим или накладным по ресурсам;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Намеренно поврежденный файл может вызвать ошибку памяти, зависание или падение анализатора и системы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15526608-E027-2B17-2A6E-E9B4EF44C8E0}"/>
              </a:ext>
            </a:extLst>
          </p:cNvPr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7E8CA715-BFAF-4FD7-3E73-6B3FE0B69F11}"/>
              </a:ext>
            </a:extLst>
          </p:cNvPr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900" b="1" kern="100" spc="-23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Проблемы существующих решений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A5F0426-A166-C218-7C07-E7C4B657B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306675"/>
              </p:ext>
            </p:extLst>
          </p:nvPr>
        </p:nvGraphicFramePr>
        <p:xfrm>
          <a:off x="133586" y="1034918"/>
          <a:ext cx="11924523" cy="5493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4841">
                  <a:extLst>
                    <a:ext uri="{9D8B030D-6E8A-4147-A177-3AD203B41FA5}">
                      <a16:colId xmlns:a16="http://schemas.microsoft.com/office/drawing/2014/main" val="2741877696"/>
                    </a:ext>
                  </a:extLst>
                </a:gridCol>
                <a:gridCol w="3974841">
                  <a:extLst>
                    <a:ext uri="{9D8B030D-6E8A-4147-A177-3AD203B41FA5}">
                      <a16:colId xmlns:a16="http://schemas.microsoft.com/office/drawing/2014/main" val="1052016422"/>
                    </a:ext>
                  </a:extLst>
                </a:gridCol>
                <a:gridCol w="3974841">
                  <a:extLst>
                    <a:ext uri="{9D8B030D-6E8A-4147-A177-3AD203B41FA5}">
                      <a16:colId xmlns:a16="http://schemas.microsoft.com/office/drawing/2014/main" val="110244355"/>
                    </a:ext>
                  </a:extLst>
                </a:gridCol>
              </a:tblGrid>
              <a:tr h="548218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 и представители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чём проблема / на чём валятся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Требование к решению (ТЗ)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851248"/>
                  </a:ext>
                </a:extLst>
              </a:tr>
              <a:tr h="105934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Коммерческие продукты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pestudio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Pro, Enterprise SDK)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Закрытый код («чёрный ящик»), консоль и JSON заблокированы платной лицензией, привязка к облакам.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Полностью открытое ПО (Open Source), локальная автономная работа без подписок и внешних серверов.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384087"/>
                  </a:ext>
                </a:extLst>
              </a:tr>
              <a:tr h="94215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Сырые парсеры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pefile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LIEF)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Аварийно падают на повреждённых заголовках (PEFormatError); нет готовой аналитики и вердиктов.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Собственный устойчивый парсер с контролем границ памяти и готовыми алгоритмами детекции.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640622"/>
                  </a:ext>
                </a:extLst>
              </a:tr>
              <a:tr h="94215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Сигнатурные сканеры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 Easy)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Ищут только байтовые паттерны упаковщиков; не ловят аномалии структуры и трюки обхода.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Алгоритмический аудит структуры (права W+X, оверлеи, Rich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энтропия).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07778"/>
                  </a:ext>
                </a:extLst>
              </a:tr>
              <a:tr h="105934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Утилиты ручного разбора (PE-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bear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Manalyze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Только ручной графический интерфейс (PE-bear) либо заброшенная база эвристик (Manalyze).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Консольный CLI и библиотека (DLL / .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с нативной выгрузкой отчёта в структурированный JSON.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797532"/>
                  </a:ext>
                </a:extLst>
              </a:tr>
              <a:tr h="94215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Песочницы и дизассемблеры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Mandiant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CAPE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Sandbox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Глубокий анализ занимает десятки секунд и минуты, перегружая очереди поточной обработки.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Экспресс-отсев за миллисекунды на уровне заголовков без эмуляции и дизассемблирования. </a:t>
                      </a:r>
                    </a:p>
                  </a:txBody>
                  <a:tcPr marL="40540" marR="40540" marT="27027" marB="270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17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63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Цель и задачи работы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1167289"/>
            <a:ext cx="10972526" cy="1221348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Цель:</a:t>
            </a:r>
            <a:r>
              <a:rPr lang="en-US" sz="2000" dirty="0">
                <a:solidFill>
                  <a:srgbClr val="0C0C0C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C0C0C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Повышение полноты выявления структурных аномалий при обеспечении отказоустойчивости первичного статического анализа PE-файлов с учётом особенностей загрузчика Windows за счёт разработки программного обеспечения экспресс-контроля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258632"/>
              </p:ext>
            </p:extLst>
          </p:nvPr>
        </p:nvGraphicFramePr>
        <p:xfrm>
          <a:off x="609585" y="2270125"/>
          <a:ext cx="10972526" cy="3654599"/>
        </p:xfrm>
        <a:graphic>
          <a:graphicData uri="http://schemas.openxmlformats.org/drawingml/2006/table">
            <a:tbl>
              <a:tblPr/>
              <a:tblGrid>
                <a:gridCol w="1316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5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latin typeface="Tinos" charset="0"/>
                          <a:ea typeface="Tinos" charset="0"/>
                          <a:cs typeface="Tinos" charset="0"/>
                        </a:rPr>
                        <a:t>1</a:t>
                      </a: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Спроектировать архитектуру инструмента и систематизировать техники обхода статического анализа с учётом поведения загрузчика Windows</a:t>
                      </a:r>
                      <a:endParaRPr lang="en-US" sz="1600" dirty="0">
                        <a:latin typeface="Times New Roman" panose="02020603050405020304" pitchFamily="18" charset="0"/>
                        <a:ea typeface="Tinos" charset="0"/>
                        <a:cs typeface="Times New Roman" panose="02020603050405020304" pitchFamily="18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latin typeface="Tinos" charset="0"/>
                          <a:ea typeface="Tinos" charset="0"/>
                          <a:cs typeface="Tinos" charset="0"/>
                        </a:rPr>
                        <a:t>2</a:t>
                      </a: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Разработать собственный устойчивый парсер заголовков с контролем границ памяти.</a:t>
                      </a:r>
                      <a:endParaRPr lang="en-US" sz="1600" dirty="0">
                        <a:latin typeface="Times New Roman" panose="02020603050405020304" pitchFamily="18" charset="0"/>
                        <a:ea typeface="Tinos" charset="0"/>
                        <a:cs typeface="Times New Roman" panose="02020603050405020304" pitchFamily="18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latin typeface="Tinos" charset="0"/>
                          <a:ea typeface="Tinos" charset="0"/>
                          <a:cs typeface="Tinos" charset="0"/>
                        </a:rPr>
                        <a:t>3</a:t>
                      </a: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Разработать алгоритмы детекции аномалий: модификаций заголовков, секций W+X, скрытых оверлеев, подделки Rich </a:t>
                      </a:r>
                      <a:r>
                        <a:rPr lang="ru-RU" sz="1600" dirty="0" err="1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Header</a:t>
                      </a: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 и энтропии секций.</a:t>
                      </a:r>
                      <a:endParaRPr lang="en-US" sz="1600" dirty="0">
                        <a:latin typeface="Times New Roman" panose="02020603050405020304" pitchFamily="18" charset="0"/>
                        <a:ea typeface="Tinos" charset="0"/>
                        <a:cs typeface="Times New Roman" panose="02020603050405020304" pitchFamily="18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latin typeface="Tinos" charset="0"/>
                          <a:ea typeface="Tinos" charset="0"/>
                          <a:cs typeface="Tinos" charset="0"/>
                        </a:rPr>
                        <a:t>4</a:t>
                      </a: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600" dirty="0" err="1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Программно</a:t>
                      </a: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 реализовать аналитическое ядро (разделяемую библиотеку DLL/.</a:t>
                      </a:r>
                      <a:r>
                        <a:rPr lang="ru-RU" sz="1600" dirty="0" err="1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so</a:t>
                      </a: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) и консольную утилиту (CLI) с выводом отчёта в JSON.</a:t>
                      </a:r>
                      <a:endParaRPr lang="en-US" sz="1600" dirty="0">
                        <a:latin typeface="Times New Roman" panose="02020603050405020304" pitchFamily="18" charset="0"/>
                        <a:ea typeface="Tinos" charset="0"/>
                        <a:cs typeface="Times New Roman" panose="02020603050405020304" pitchFamily="18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latin typeface="Tinos" charset="0"/>
                          <a:ea typeface="Tinos" charset="0"/>
                          <a:cs typeface="Tinos" charset="0"/>
                        </a:rPr>
                        <a:t>5</a:t>
                      </a: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Провести тестирование на системных файлах и открытом корпусе </a:t>
                      </a:r>
                      <a:r>
                        <a:rPr lang="ru-RU" sz="1600" dirty="0" err="1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Corkami</a:t>
                      </a:r>
                      <a:r>
                        <a:rPr lang="ru-RU" sz="1600" dirty="0">
                          <a:solidFill>
                            <a:srgbClr val="0C0C0C"/>
                          </a:solidFill>
                          <a:latin typeface="Times New Roman" panose="02020603050405020304" pitchFamily="18" charset="0"/>
                          <a:ea typeface="Tinos" pitchFamily="34" charset="-122"/>
                          <a:cs typeface="Times New Roman" panose="02020603050405020304" pitchFamily="18" charset="0"/>
                        </a:rPr>
                        <a:t>, выполнив сравнение с существующими аналогами.</a:t>
                      </a:r>
                      <a:endParaRPr lang="en-US" sz="1600" dirty="0">
                        <a:latin typeface="Times New Roman" panose="02020603050405020304" pitchFamily="18" charset="0"/>
                        <a:ea typeface="Tinos" charset="0"/>
                        <a:cs typeface="Times New Roman" panose="02020603050405020304" pitchFamily="18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ru-RU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ru-RU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4F51F53-5D89-873D-79AA-34430B9F83A9}"/>
              </a:ext>
            </a:extLst>
          </p:cNvPr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900" b="1" kern="100" spc="-23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Бизнес-задачи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5DFB3961-2A66-6DE5-1380-9775289E6EBC}"/>
              </a:ext>
            </a:extLst>
          </p:cNvPr>
          <p:cNvSpPr/>
          <p:nvPr/>
        </p:nvSpPr>
        <p:spPr>
          <a:xfrm>
            <a:off x="609585" y="1362221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Снижение нагрузки на инфраструктуру: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FA5C1A8D-FE04-6A39-C3F3-AFA8F1091EE4}"/>
              </a:ext>
            </a:extLst>
          </p:cNvPr>
          <p:cNvSpPr/>
          <p:nvPr/>
        </p:nvSpPr>
        <p:spPr>
          <a:xfrm>
            <a:off x="1168371" y="1786842"/>
            <a:ext cx="10413739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Быстрый отсев файлов за миллисекунды, чтобы не перегружать медленные и дорогие песочницы потоком обычных данных.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EF1C292-90F5-70BD-E709-85EB6AACA194}"/>
              </a:ext>
            </a:extLst>
          </p:cNvPr>
          <p:cNvSpPr/>
          <p:nvPr/>
        </p:nvSpPr>
        <p:spPr>
          <a:xfrm>
            <a:off x="609583" y="2487138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конвейера от сбоев: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9F77851-B6B3-FBA2-B436-B555B9626B38}"/>
              </a:ext>
            </a:extLst>
          </p:cNvPr>
          <p:cNvSpPr/>
          <p:nvPr/>
        </p:nvSpPr>
        <p:spPr>
          <a:xfrm>
            <a:off x="1168371" y="2955274"/>
            <a:ext cx="10413739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Предотвращение зависаний и аварийных падений автоматических очередей при разборе намеренно повреждённых файлов.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5FB31C8-74D9-6752-96C8-75A074EB43B2}"/>
              </a:ext>
            </a:extLst>
          </p:cNvPr>
          <p:cNvSpPr/>
          <p:nvPr/>
        </p:nvSpPr>
        <p:spPr>
          <a:xfrm>
            <a:off x="609585" y="3704320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Раннее выявление скрытых угроз: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6BBF2A8-BBCF-26A0-4DF4-FD813CB8A5CA}"/>
              </a:ext>
            </a:extLst>
          </p:cNvPr>
          <p:cNvSpPr/>
          <p:nvPr/>
        </p:nvSpPr>
        <p:spPr>
          <a:xfrm>
            <a:off x="1168370" y="4174172"/>
            <a:ext cx="10413739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признаков сокрытия кода (оверлеи, модификации заголовков, подозрительные секции) до запуска программы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2446993A-ABA5-AB6C-32F2-EA150017FB7F}"/>
              </a:ext>
            </a:extLst>
          </p:cNvPr>
          <p:cNvSpPr/>
          <p:nvPr/>
        </p:nvSpPr>
        <p:spPr>
          <a:xfrm>
            <a:off x="609585" y="4921467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Автономность и безопасность: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F455B144-B96E-D2F2-A570-09989F737EE8}"/>
              </a:ext>
            </a:extLst>
          </p:cNvPr>
          <p:cNvSpPr/>
          <p:nvPr/>
        </p:nvSpPr>
        <p:spPr>
          <a:xfrm>
            <a:off x="1168369" y="5351234"/>
            <a:ext cx="10413739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в закрытом контуре без передачи данных во внешние облака и без привязки к платным зарубежным лицензиям.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ru-RU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D153E6BA-E400-5D1D-082E-4CCAA2B623AF}"/>
              </a:ext>
            </a:extLst>
          </p:cNvPr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900" b="1" kern="100" spc="-23" dirty="0">
                <a:solidFill>
                  <a:srgbClr val="0C0C0C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Архитектура и сценарии применения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A2F37B-12DF-7E51-E650-BD8D70880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772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Стек технологий и методика тестирования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ru-RU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E54677A-CB10-E2CC-2236-DB3E900A2D9D}"/>
              </a:ext>
            </a:extLst>
          </p:cNvPr>
          <p:cNvSpPr/>
          <p:nvPr/>
        </p:nvSpPr>
        <p:spPr>
          <a:xfrm>
            <a:off x="1168372" y="1865799"/>
            <a:ext cx="10413739" cy="193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Ядро и безопасный парсер (C++20 /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Rust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Строгий контроль границ буфера при чтении бинарных структур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C++ или слайсы и модель владения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Rust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исключения падений по ошибкам доступа к памяти (Out-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Fault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Интерфейсный уровень: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разделяемая библиотека (DLL / .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консольная утилита (CLI) — полностью автономная работа без сторонних зависимостей и без доступа в сеть;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вывода: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JSON-отчёт — список найденных аномалий и итоговая оценка риска для интеграции в конвейеры.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DC4789A-5D37-A30C-3148-61F4D49DF82A}"/>
              </a:ext>
            </a:extLst>
          </p:cNvPr>
          <p:cNvSpPr/>
          <p:nvPr/>
        </p:nvSpPr>
        <p:spPr>
          <a:xfrm>
            <a:off x="609582" y="3773090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C120FD9-B523-350F-0CA3-E9792A453C4D}"/>
              </a:ext>
            </a:extLst>
          </p:cNvPr>
          <p:cNvSpPr/>
          <p:nvPr/>
        </p:nvSpPr>
        <p:spPr>
          <a:xfrm>
            <a:off x="1168372" y="4274327"/>
            <a:ext cx="10413739" cy="1964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датасеты: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файлы чистой ОС Windows (контроль ложных срабатываний) и открытый корпус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Corkami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(стресс-тест на файлах с намеренно деформированной структурой);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для сравнения: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pefile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статический анализатор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Manalyze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консольный сканер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Easy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diec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эффективности: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Устойчивость к аномалиям (процент аварийных падений парсера) и скорость обработки (мс на файл / МБ в секунду).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EBF271CA-D50A-C295-EFF4-159C9C8042B7}"/>
              </a:ext>
            </a:extLst>
          </p:cNvPr>
          <p:cNvSpPr/>
          <p:nvPr/>
        </p:nvSpPr>
        <p:spPr>
          <a:xfrm>
            <a:off x="609581" y="1364562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72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Результаты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ru-RU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10A8337-3BD2-FC90-8678-F2473A8A0DF1}"/>
              </a:ext>
            </a:extLst>
          </p:cNvPr>
          <p:cNvSpPr/>
          <p:nvPr/>
        </p:nvSpPr>
        <p:spPr>
          <a:xfrm>
            <a:off x="609585" y="1401990"/>
            <a:ext cx="10413739" cy="4382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Устойчивость к битым заголовкам: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Стандартные парсеры (например,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pefile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аварийно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падают с ошибкой и ломают конвейер.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Стало: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Безопасный разбор без падений: вместо вылета программа выдаёт отчёт о найденных аномалиях.</a:t>
            </a:r>
          </a:p>
          <a:p>
            <a:pPr lvl="1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Применимость для автоматизации: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Утилиты работают только через графическое окно (PE-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либо требуют платную лицензию за консоль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pestudio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Стало: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Открытая консольная утилита (CLI) и библиотека (DLL / .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прямым выводом в JSON.</a:t>
            </a:r>
          </a:p>
          <a:p>
            <a:pPr lvl="1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и нагрузка на систему: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Глубокая проверка в песочницах и дизассемблерах занимает десятки секунд на каждый файл.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Стало: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Экспресс-проверка структуры и энтропии за доли секунды без запуска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бинарника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71015BA-FED7-311F-5CD2-97DA049D4BC1}"/>
              </a:ext>
            </a:extLst>
          </p:cNvPr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ru-RU" sz="140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1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C0C70C-030A-0D14-0ECF-D677A1D8F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521" y="1450521"/>
            <a:ext cx="3956958" cy="395695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B6666930-25D3-81C3-7F03-9251105970C9}"/>
              </a:ext>
            </a:extLst>
          </p:cNvPr>
          <p:cNvSpPr/>
          <p:nvPr/>
        </p:nvSpPr>
        <p:spPr>
          <a:xfrm>
            <a:off x="889130" y="816312"/>
            <a:ext cx="10413739" cy="70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https://github.com/DmitriyKolesnikM8O/diplom</a:t>
            </a:r>
          </a:p>
        </p:txBody>
      </p:sp>
    </p:spTree>
    <p:extLst>
      <p:ext uri="{BB962C8B-B14F-4D97-AF65-F5344CB8AC3E}">
        <p14:creationId xmlns:p14="http://schemas.microsoft.com/office/powerpoint/2010/main" val="91485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966</Words>
  <Application>Microsoft Office PowerPoint</Application>
  <PresentationFormat>Широкоэкранный</PresentationFormat>
  <Paragraphs>103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Tinos Bold</vt:lpstr>
      <vt:lpstr>Calibri</vt:lpstr>
      <vt:lpstr>Tinos</vt:lpstr>
      <vt:lpstr>Calibri Light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Дмитрий Колесник</dc:creator>
  <cp:lastModifiedBy>Дмитрий Колесник</cp:lastModifiedBy>
  <cp:revision>11</cp:revision>
  <dcterms:created xsi:type="dcterms:W3CDTF">2026-10-13T20:56:30Z</dcterms:created>
  <dcterms:modified xsi:type="dcterms:W3CDTF">2026-10-29T14:38:15Z</dcterms:modified>
</cp:coreProperties>
</file>